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29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EF4444"/>
                </a:solidFill>
                <a:latin typeface="Arial"/>
              </a:defRPr>
            </a:pPr>
            <a:r>
              <a:rPr lang="en" sz="1000" b="0" i="0" u="none" strike="noStrike">
                <a:solidFill>
                  <a:srgbClr val="EF4444"/>
                </a:solidFill>
                <a:latin typeface="Arial"/>
              </a:rPr>
              <a:t>⚠  Class Distribution — Pterygium critically underrepresented (102 images vs 3,444)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D5D-DE40-A781-061B3F756F4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D5D-DE40-A781-061B3F756F4C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D5D-DE40-A781-061B3F756F4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3D5D-DE40-A781-061B3F756F4C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3D5D-DE40-A781-061B3F756F4C}"/>
              </c:ext>
            </c:extLst>
          </c:dPt>
          <c:dPt>
            <c:idx val="5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D5D-DE40-A781-061B3F756F4C}"/>
              </c:ext>
            </c:extLst>
          </c:dPt>
          <c:dPt>
            <c:idx val="6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D5D-DE40-A781-061B3F756F4C}"/>
              </c:ext>
            </c:extLst>
          </c:dPt>
          <c:dPt>
            <c:idx val="7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D5D-DE40-A781-061B3F756F4C}"/>
              </c:ext>
            </c:extLst>
          </c:dPt>
          <c:dPt>
            <c:idx val="8"/>
            <c:invertIfNegative val="0"/>
            <c:bubble3D val="0"/>
            <c:spPr>
              <a:solidFill>
                <a:srgbClr val="99F6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3D5D-DE40-A781-061B3F756F4C}"/>
              </c:ext>
            </c:extLst>
          </c:dPt>
          <c:dPt>
            <c:idx val="9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3D5D-DE40-A781-061B3F756F4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ar-OM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Diab.
Retino.</c:v>
                </c:pt>
                <c:pt idx="1">
                  <c:v>Glaucoma</c:v>
                </c:pt>
                <c:pt idx="2">
                  <c:v>Healthy</c:v>
                </c:pt>
                <c:pt idx="3">
                  <c:v>Myopia</c:v>
                </c:pt>
                <c:pt idx="4">
                  <c:v>Macular
Scar</c:v>
                </c:pt>
                <c:pt idx="5">
                  <c:v>Ret.
Pigm.</c:v>
                </c:pt>
                <c:pt idx="6">
                  <c:v>Disc
Edema</c:v>
                </c:pt>
                <c:pt idx="7">
                  <c:v>Ret.
Detach.</c:v>
                </c:pt>
                <c:pt idx="8">
                  <c:v>CSC</c:v>
                </c:pt>
                <c:pt idx="9">
                  <c:v>Pterygium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3444</c:v>
                </c:pt>
                <c:pt idx="1">
                  <c:v>2880</c:v>
                </c:pt>
                <c:pt idx="2">
                  <c:v>2676</c:v>
                </c:pt>
                <c:pt idx="3">
                  <c:v>2251</c:v>
                </c:pt>
                <c:pt idx="4">
                  <c:v>1937</c:v>
                </c:pt>
                <c:pt idx="5">
                  <c:v>834</c:v>
                </c:pt>
                <c:pt idx="6">
                  <c:v>762</c:v>
                </c:pt>
                <c:pt idx="7">
                  <c:v>750</c:v>
                </c:pt>
                <c:pt idx="8">
                  <c:v>606</c:v>
                </c:pt>
                <c:pt idx="9">
                  <c:v>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3D5D-DE40-A781-061B3F756F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ar-OM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Custom CNN</c:v>
                </c:pt>
                <c:pt idx="2">
                  <c:v>YOLOv8n-cls</c:v>
                </c:pt>
                <c:pt idx="3">
                  <c:v>EfficientNetB0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0.21199999999999999</c:v>
                </c:pt>
                <c:pt idx="1">
                  <c:v>0.72</c:v>
                </c:pt>
                <c:pt idx="2">
                  <c:v>0.78</c:v>
                </c:pt>
                <c:pt idx="3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EE-1D43-8646-DE86F60812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ar-OM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Custom CNN</c:v>
                </c:pt>
                <c:pt idx="2">
                  <c:v>YOLOv8n-cls</c:v>
                </c:pt>
                <c:pt idx="3">
                  <c:v>EfficientNetB0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0.05</c:v>
                </c:pt>
                <c:pt idx="1">
                  <c:v>0.71</c:v>
                </c:pt>
                <c:pt idx="2">
                  <c:v>0.77</c:v>
                </c:pt>
                <c:pt idx="3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DEE-1D43-8646-DE86F608125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ar-OM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Custom CNN</c:v>
                </c:pt>
                <c:pt idx="2">
                  <c:v>YOLOv8n-cls</c:v>
                </c:pt>
                <c:pt idx="3">
                  <c:v>EfficientNetB0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0.94</c:v>
                </c:pt>
                <c:pt idx="2">
                  <c:v>0.96</c:v>
                </c:pt>
                <c:pt idx="3">
                  <c:v>0.98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DEE-1D43-8646-DE86F608125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8684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" name="Shape 1"/>
          <p:cNvSpPr/>
          <p:nvPr/>
        </p:nvSpPr>
        <p:spPr>
          <a:xfrm>
            <a:off x="914400" y="502920"/>
            <a:ext cx="1463040" cy="1463040"/>
          </a:xfrm>
          <a:prstGeom prst="ellipse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4" name="Text 2"/>
          <p:cNvSpPr/>
          <p:nvPr/>
        </p:nvSpPr>
        <p:spPr>
          <a:xfrm>
            <a:off x="914400" y="5029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👁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VisionCare AI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312724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Eye Disease Detection System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657600"/>
            <a:ext cx="347472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AIAC-GA-2025-01  |  </a:t>
            </a:r>
            <a:r>
              <a:rPr lang="en-US" sz="1000" b="1" dirty="0">
                <a:solidFill>
                  <a:srgbClr val="14B8A6"/>
                </a:solidFill>
              </a:rPr>
              <a:t>Healthcare AI — Medical Image Classification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4224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University of Nizwa  |  AI Applications Chair  |  2025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0" y="182880"/>
            <a:ext cx="3474720" cy="347472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1" name="Shape 9"/>
          <p:cNvSpPr/>
          <p:nvPr/>
        </p:nvSpPr>
        <p:spPr>
          <a:xfrm>
            <a:off x="7132320" y="1188720"/>
            <a:ext cx="2194560" cy="219456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2" name="Text 10"/>
          <p:cNvSpPr/>
          <p:nvPr/>
        </p:nvSpPr>
        <p:spPr>
          <a:xfrm>
            <a:off x="7132320" y="15544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10 Diseases
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Detected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in the next 10 minutes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566928" cy="8046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8" name="Text 6"/>
          <p:cNvSpPr/>
          <p:nvPr/>
        </p:nvSpPr>
        <p:spPr>
          <a:xfrm>
            <a:off x="411480" y="1097280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9848" y="11521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9848" y="1481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Why eye disease detection matters globally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09728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2" name="Shape 10"/>
          <p:cNvSpPr/>
          <p:nvPr/>
        </p:nvSpPr>
        <p:spPr>
          <a:xfrm>
            <a:off x="4617720" y="1097280"/>
            <a:ext cx="566928" cy="8046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3" name="Text 11"/>
          <p:cNvSpPr/>
          <p:nvPr/>
        </p:nvSpPr>
        <p:spPr>
          <a:xfrm>
            <a:off x="4617720" y="1097280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76088" y="11521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Dataset &amp; EDA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76088" y="1481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Kaggle dataset, 16,242 images, 10 classes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05740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7" name="Shape 15"/>
          <p:cNvSpPr/>
          <p:nvPr/>
        </p:nvSpPr>
        <p:spPr>
          <a:xfrm>
            <a:off x="411480" y="2057400"/>
            <a:ext cx="566928" cy="8046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8" name="Text 16"/>
          <p:cNvSpPr/>
          <p:nvPr/>
        </p:nvSpPr>
        <p:spPr>
          <a:xfrm>
            <a:off x="411480" y="2057400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69848" y="21122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Methodology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69848" y="2441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Data balancing, preprocessing, model pipeline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205740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22" name="Shape 20"/>
          <p:cNvSpPr/>
          <p:nvPr/>
        </p:nvSpPr>
        <p:spPr>
          <a:xfrm>
            <a:off x="4617720" y="2057400"/>
            <a:ext cx="566928" cy="8046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3" name="Text 21"/>
          <p:cNvSpPr/>
          <p:nvPr/>
        </p:nvSpPr>
        <p:spPr>
          <a:xfrm>
            <a:off x="4617720" y="2057400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76088" y="21122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Models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76088" y="2441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Baseline → Custom CNN → YOLOv8 → EfficientNetB0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301752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27" name="Shape 25"/>
          <p:cNvSpPr/>
          <p:nvPr/>
        </p:nvSpPr>
        <p:spPr>
          <a:xfrm>
            <a:off x="411480" y="3017520"/>
            <a:ext cx="566928" cy="8046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8" name="Text 26"/>
          <p:cNvSpPr/>
          <p:nvPr/>
        </p:nvSpPr>
        <p:spPr>
          <a:xfrm>
            <a:off x="411480" y="3017520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69848" y="30723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Challenges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69848" y="3401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Class imbalance, convergence failures, and fixes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301752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32" name="Shape 30"/>
          <p:cNvSpPr/>
          <p:nvPr/>
        </p:nvSpPr>
        <p:spPr>
          <a:xfrm>
            <a:off x="4617720" y="3017520"/>
            <a:ext cx="566928" cy="8046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3" name="Text 31"/>
          <p:cNvSpPr/>
          <p:nvPr/>
        </p:nvSpPr>
        <p:spPr>
          <a:xfrm>
            <a:off x="4617720" y="3017520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76088" y="30723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Results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76088" y="3401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Metrics, confusion matrix, k=5 cross-validation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1480" y="397764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37" name="Shape 35"/>
          <p:cNvSpPr/>
          <p:nvPr/>
        </p:nvSpPr>
        <p:spPr>
          <a:xfrm>
            <a:off x="411480" y="3977640"/>
            <a:ext cx="566928" cy="8046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8" name="Text 36"/>
          <p:cNvSpPr/>
          <p:nvPr/>
        </p:nvSpPr>
        <p:spPr>
          <a:xfrm>
            <a:off x="411480" y="3977640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69848" y="40325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XAI — Grad-CAM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69848" y="4361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Explainability and clinical relevance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17720" y="397764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42" name="Shape 40"/>
          <p:cNvSpPr/>
          <p:nvPr/>
        </p:nvSpPr>
        <p:spPr>
          <a:xfrm>
            <a:off x="4617720" y="3977640"/>
            <a:ext cx="566928" cy="8046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43" name="Text 41"/>
          <p:cNvSpPr/>
          <p:nvPr/>
        </p:nvSpPr>
        <p:spPr>
          <a:xfrm>
            <a:off x="4617720" y="3977640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276088" y="40325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76088" y="4361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Key findings and future work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eye disease challenge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278615"/>
            <a:ext cx="64008" cy="1691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ar-OM"/>
          </a:p>
        </p:txBody>
      </p:sp>
      <p:sp>
        <p:nvSpPr>
          <p:cNvPr id="7" name="Text 5"/>
          <p:cNvSpPr/>
          <p:nvPr/>
        </p:nvSpPr>
        <p:spPr>
          <a:xfrm>
            <a:off x="566928" y="960120"/>
            <a:ext cx="4114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"Imagine a world where the beauty of a sunset starts to fade — not due to the passage of time, but because of a lurking ocular disease. Millions face this daily, yet 80% of cases are preventable if caught early."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960120"/>
            <a:ext cx="12801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9" name="Shape 7"/>
          <p:cNvSpPr/>
          <p:nvPr/>
        </p:nvSpPr>
        <p:spPr>
          <a:xfrm>
            <a:off x="4937760" y="960120"/>
            <a:ext cx="1280160" cy="34747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0" name="Text 8"/>
          <p:cNvSpPr/>
          <p:nvPr/>
        </p:nvSpPr>
        <p:spPr>
          <a:xfrm>
            <a:off x="4937760" y="9601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CNV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10912" y="1353312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</a:rPr>
              <a:t>Choroidal Neovascularization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10912" y="1783080"/>
            <a:ext cx="1133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Abnormal blood vessels beneath the retina. Can leak and cause permanent vision loss.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355080" y="960120"/>
            <a:ext cx="12801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4" name="Shape 12"/>
          <p:cNvSpPr/>
          <p:nvPr/>
        </p:nvSpPr>
        <p:spPr>
          <a:xfrm>
            <a:off x="6355080" y="960120"/>
            <a:ext cx="1280160" cy="3474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5" name="Text 13"/>
          <p:cNvSpPr/>
          <p:nvPr/>
        </p:nvSpPr>
        <p:spPr>
          <a:xfrm>
            <a:off x="6355080" y="9601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28232" y="1353312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</a:rPr>
              <a:t>Diabetic Macular Edema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28232" y="1783080"/>
            <a:ext cx="1133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Fluid in the macula from diabetic complications. Leading cause of working-age blindness.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772400" y="960120"/>
            <a:ext cx="12801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9" name="Shape 17"/>
          <p:cNvSpPr/>
          <p:nvPr/>
        </p:nvSpPr>
        <p:spPr>
          <a:xfrm>
            <a:off x="7772400" y="960120"/>
            <a:ext cx="128016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0" name="Text 18"/>
          <p:cNvSpPr/>
          <p:nvPr/>
        </p:nvSpPr>
        <p:spPr>
          <a:xfrm>
            <a:off x="7772400" y="9601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Drusen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45552" y="1353312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</a:rPr>
              <a:t>Retinal Deposits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845552" y="1783080"/>
            <a:ext cx="1133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Yellow deposits under the retina. High density signals age-related macular degeneration.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3512733"/>
            <a:ext cx="2468880" cy="987552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24" name="Shape 22"/>
          <p:cNvSpPr/>
          <p:nvPr/>
        </p:nvSpPr>
        <p:spPr>
          <a:xfrm>
            <a:off x="411480" y="3512733"/>
            <a:ext cx="246888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5" name="Text 23"/>
          <p:cNvSpPr/>
          <p:nvPr/>
        </p:nvSpPr>
        <p:spPr>
          <a:xfrm>
            <a:off x="411480" y="3622461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246M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11480" y="4079661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People with vision impairment [1]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63240" y="3512733"/>
            <a:ext cx="2468880" cy="987552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28" name="Shape 26"/>
          <p:cNvSpPr/>
          <p:nvPr/>
        </p:nvSpPr>
        <p:spPr>
          <a:xfrm>
            <a:off x="3063240" y="3512733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9" name="Text 27"/>
          <p:cNvSpPr/>
          <p:nvPr/>
        </p:nvSpPr>
        <p:spPr>
          <a:xfrm>
            <a:off x="3063240" y="3622461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063240" y="4079661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Cases are preventable [1]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715000" y="3512733"/>
            <a:ext cx="2468880" cy="987552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32" name="Shape 30"/>
          <p:cNvSpPr/>
          <p:nvPr/>
        </p:nvSpPr>
        <p:spPr>
          <a:xfrm>
            <a:off x="5715000" y="3512733"/>
            <a:ext cx="24688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3" name="Text 31"/>
          <p:cNvSpPr/>
          <p:nvPr/>
        </p:nvSpPr>
        <p:spPr>
          <a:xfrm>
            <a:off x="5715000" y="3622461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5715000" y="4079661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Diseases detected by VisionCare AI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3716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Source: [1] World Health Organization, World Report on Vision, 2019.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Exploratory Data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Retinal OCT Eye Disease Classification Dataset [9]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042312"/>
            <a:ext cx="3474720" cy="118872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algn="r" defTabSz="914400" rtl="1" eaLnBrk="1" latinLnBrk="0" hangingPunct="1"/>
            <a:endParaRPr lang="ar-OM"/>
          </a:p>
        </p:txBody>
      </p:sp>
      <p:sp>
        <p:nvSpPr>
          <p:cNvPr id="7" name="Text 5"/>
          <p:cNvSpPr/>
          <p:nvPr/>
        </p:nvSpPr>
        <p:spPr>
          <a:xfrm>
            <a:off x="502920" y="107775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📦  Source: Kaggle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1495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Retinal OCT Eye Disease Classification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kaggle.com/datasets/kondwani/eye-disease-classification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Licence: CC0 Public Domain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29698" y="816284"/>
            <a:ext cx="22402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algn="r" defTabSz="914400" rtl="1" eaLnBrk="1" latinLnBrk="0" hangingPunct="1"/>
            <a:endParaRPr lang="ar-OM"/>
          </a:p>
        </p:txBody>
      </p:sp>
      <p:sp>
        <p:nvSpPr>
          <p:cNvPr id="10" name="Shape 8"/>
          <p:cNvSpPr/>
          <p:nvPr/>
        </p:nvSpPr>
        <p:spPr>
          <a:xfrm>
            <a:off x="4129698" y="816284"/>
            <a:ext cx="64008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1" name="Text 9"/>
          <p:cNvSpPr/>
          <p:nvPr/>
        </p:nvSpPr>
        <p:spPr>
          <a:xfrm>
            <a:off x="4294290" y="8802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16,242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294290" y="13374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Total Images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07138" y="816284"/>
            <a:ext cx="22402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algn="r" defTabSz="914400" rtl="1" eaLnBrk="1" latinLnBrk="0" hangingPunct="1"/>
            <a:endParaRPr lang="ar-OM"/>
          </a:p>
        </p:txBody>
      </p:sp>
      <p:sp>
        <p:nvSpPr>
          <p:cNvPr id="14" name="Shape 12"/>
          <p:cNvSpPr/>
          <p:nvPr/>
        </p:nvSpPr>
        <p:spPr>
          <a:xfrm>
            <a:off x="6507138" y="816284"/>
            <a:ext cx="64008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5" name="Text 13"/>
          <p:cNvSpPr/>
          <p:nvPr/>
        </p:nvSpPr>
        <p:spPr>
          <a:xfrm>
            <a:off x="6671730" y="8802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71730" y="13374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Disease Classes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29698" y="1867844"/>
            <a:ext cx="22402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8" name="Shape 16"/>
          <p:cNvSpPr/>
          <p:nvPr/>
        </p:nvSpPr>
        <p:spPr>
          <a:xfrm>
            <a:off x="4129698" y="1867844"/>
            <a:ext cx="64008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9" name="Text 17"/>
          <p:cNvSpPr/>
          <p:nvPr/>
        </p:nvSpPr>
        <p:spPr>
          <a:xfrm>
            <a:off x="4294290" y="19318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224×224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294290" y="23890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Input Resolution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07138" y="1867844"/>
            <a:ext cx="22402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algn="r" defTabSz="914400" rtl="1" eaLnBrk="1" latinLnBrk="0" hangingPunct="1"/>
            <a:endParaRPr lang="ar-OM"/>
          </a:p>
        </p:txBody>
      </p:sp>
      <p:sp>
        <p:nvSpPr>
          <p:cNvPr id="22" name="Shape 20"/>
          <p:cNvSpPr/>
          <p:nvPr/>
        </p:nvSpPr>
        <p:spPr>
          <a:xfrm>
            <a:off x="6507138" y="1867844"/>
            <a:ext cx="64008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3" name="Text 21"/>
          <p:cNvSpPr/>
          <p:nvPr/>
        </p:nvSpPr>
        <p:spPr>
          <a:xfrm>
            <a:off x="6671730" y="19318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 / 20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671730" y="23890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Train / Val Split</a:t>
            </a:r>
            <a:endParaRPr lang="en-US" sz="900" dirty="0"/>
          </a:p>
        </p:txBody>
      </p:sp>
      <p:graphicFrame>
        <p:nvGraphicFramePr>
          <p:cNvPr id="25" name="Chart 0"/>
          <p:cNvGraphicFramePr/>
          <p:nvPr>
            <p:extLst>
              <p:ext uri="{D42A27DB-BD31-4B8C-83A1-F6EECF244321}">
                <p14:modId xmlns:p14="http://schemas.microsoft.com/office/powerpoint/2010/main" val="1788026062"/>
              </p:ext>
            </p:extLst>
          </p:nvPr>
        </p:nvGraphicFramePr>
        <p:xfrm>
          <a:off x="411480" y="2846252"/>
          <a:ext cx="7396880" cy="20457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411480" y="493776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0D9488"/>
                </a:solidFill>
              </a:rPr>
              <a:t>5 EDA visualisations produced: class distribution, sample images, pie chart, pixel intensity, imbalance ratio.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5" name="Text 3"/>
          <p:cNvSpPr/>
          <p:nvPr/>
        </p:nvSpPr>
        <p:spPr>
          <a:xfrm>
            <a:off x="411480" y="76357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AI/ML development pipeline — from raw images to trained model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55648" y="2011680"/>
            <a:ext cx="237744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ar-OM"/>
          </a:p>
        </p:txBody>
      </p:sp>
      <p:sp>
        <p:nvSpPr>
          <p:cNvPr id="7" name="Text 5"/>
          <p:cNvSpPr/>
          <p:nvPr/>
        </p:nvSpPr>
        <p:spPr>
          <a:xfrm>
            <a:off x="1755648" y="197510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1481328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1481328" cy="4389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0" name="Text 8"/>
          <p:cNvSpPr/>
          <p:nvPr/>
        </p:nvSpPr>
        <p:spPr>
          <a:xfrm>
            <a:off x="274320" y="1005840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" y="150876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Data Collection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1920240"/>
            <a:ext cx="13350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Kaggle Dataset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16,242 retinal images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10 disease categories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CC0 Public Domain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0" y="2011680"/>
            <a:ext cx="237744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4" name="Text 12"/>
          <p:cNvSpPr/>
          <p:nvPr/>
        </p:nvSpPr>
        <p:spPr>
          <a:xfrm>
            <a:off x="3474720" y="197510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93392" y="1005840"/>
            <a:ext cx="1481328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6" name="Shape 14"/>
          <p:cNvSpPr/>
          <p:nvPr/>
        </p:nvSpPr>
        <p:spPr>
          <a:xfrm>
            <a:off x="1993392" y="1005840"/>
            <a:ext cx="1481328" cy="4389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7" name="Text 15"/>
          <p:cNvSpPr/>
          <p:nvPr/>
        </p:nvSpPr>
        <p:spPr>
          <a:xfrm>
            <a:off x="1993392" y="1005840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066544" y="150876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EDA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66544" y="1920240"/>
            <a:ext cx="13350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5 visualisations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Class distribution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Pixel intensity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Imbalance ratio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193792" y="2011680"/>
            <a:ext cx="237744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1" name="Text 19"/>
          <p:cNvSpPr/>
          <p:nvPr/>
        </p:nvSpPr>
        <p:spPr>
          <a:xfrm>
            <a:off x="5193792" y="197510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12464" y="1005840"/>
            <a:ext cx="1481328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23" name="Shape 21"/>
          <p:cNvSpPr/>
          <p:nvPr/>
        </p:nvSpPr>
        <p:spPr>
          <a:xfrm>
            <a:off x="3712464" y="1005840"/>
            <a:ext cx="1481328" cy="43891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4" name="Text 22"/>
          <p:cNvSpPr/>
          <p:nvPr/>
        </p:nvSpPr>
        <p:spPr>
          <a:xfrm>
            <a:off x="3712464" y="1005840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785616" y="150876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Balancing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85616" y="1920240"/>
            <a:ext cx="13350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Oversample → 2,500/class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Augment: rotate, flip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zoom, brightness, shear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Total: 25,000 imgs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12864" y="2011680"/>
            <a:ext cx="237744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8" name="Text 26"/>
          <p:cNvSpPr/>
          <p:nvPr/>
        </p:nvSpPr>
        <p:spPr>
          <a:xfrm>
            <a:off x="6912864" y="197510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31536" y="1005840"/>
            <a:ext cx="1481328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30" name="Shape 28"/>
          <p:cNvSpPr/>
          <p:nvPr/>
        </p:nvSpPr>
        <p:spPr>
          <a:xfrm>
            <a:off x="5431536" y="1005840"/>
            <a:ext cx="1481328" cy="4389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1" name="Text 29"/>
          <p:cNvSpPr/>
          <p:nvPr/>
        </p:nvSpPr>
        <p:spPr>
          <a:xfrm>
            <a:off x="5431536" y="1005840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504688" y="150876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04688" y="1920240"/>
            <a:ext cx="13350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Resize 224×224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Normalise [0,1]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80/20 stratified split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Live augmentation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150608" y="1005840"/>
            <a:ext cx="1481328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35" name="Shape 33"/>
          <p:cNvSpPr/>
          <p:nvPr/>
        </p:nvSpPr>
        <p:spPr>
          <a:xfrm>
            <a:off x="7150608" y="1005840"/>
            <a:ext cx="1481328" cy="43891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6" name="Text 34"/>
          <p:cNvSpPr/>
          <p:nvPr/>
        </p:nvSpPr>
        <p:spPr>
          <a:xfrm>
            <a:off x="7150608" y="1005840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223760" y="150876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Train &amp; Evaluate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23760" y="1920240"/>
            <a:ext cx="13350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Baseline → CNN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→ YOLOv8 → EffNet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k=5 CV + MLflow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Grad-CAM XAI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4434840"/>
            <a:ext cx="8321040" cy="530352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40" name="Text 38"/>
          <p:cNvSpPr/>
          <p:nvPr/>
        </p:nvSpPr>
        <p:spPr>
          <a:xfrm>
            <a:off x="548640" y="44988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</a:rPr>
              <a:t>Augmentation pipeline: </a:t>
            </a:r>
            <a:r>
              <a:rPr lang="en-US" sz="900" dirty="0">
                <a:solidFill>
                  <a:srgbClr val="E2E8F0"/>
                </a:solidFill>
              </a:rPr>
              <a:t>Rotation ±40°  |  Horizontal &amp; Vertical Flip  |  Zoom ±25%  |  Brightness [0.6–1.4]  |  Shear 15%  |  Width/Height Shift ±20%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5" name="Text 3"/>
          <p:cNvSpPr/>
          <p:nvPr/>
        </p:nvSpPr>
        <p:spPr>
          <a:xfrm>
            <a:off x="411480" y="7224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 trained and compared — from trivial baseline to state-of-the-art transfer learning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993392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algn="r" defTabSz="914400" rtl="1" eaLnBrk="1" latinLnBrk="0" hangingPunct="1"/>
            <a:endParaRPr lang="ar-OM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1993392" cy="914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8" name="Shape 6"/>
          <p:cNvSpPr/>
          <p:nvPr/>
        </p:nvSpPr>
        <p:spPr>
          <a:xfrm>
            <a:off x="347472" y="1097280"/>
            <a:ext cx="658368" cy="2743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9" name="Text 7"/>
          <p:cNvSpPr/>
          <p:nvPr/>
        </p:nvSpPr>
        <p:spPr>
          <a:xfrm>
            <a:off x="347472" y="10972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SKLEARN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060704" y="11155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BASELINE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1444752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Dummy Classifier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" y="1901952"/>
            <a:ext cx="1847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Always predicts the most frequent class. Sets the minimum performance floor.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" y="2697480"/>
            <a:ext cx="18470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A1628"/>
                </a:solidFill>
              </a:rPr>
              <a:t>Strategy: most_frequent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A1628"/>
                </a:solidFill>
              </a:rPr>
              <a:t>Accuracy: ~21%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A1628"/>
                </a:solidFill>
              </a:rPr>
              <a:t>No learning — pure reference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A1628"/>
                </a:solidFill>
              </a:rPr>
              <a:t>Required by assessment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50592" y="960120"/>
            <a:ext cx="1993392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5" name="Shape 13"/>
          <p:cNvSpPr/>
          <p:nvPr/>
        </p:nvSpPr>
        <p:spPr>
          <a:xfrm>
            <a:off x="2450592" y="960120"/>
            <a:ext cx="1993392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6" name="Shape 14"/>
          <p:cNvSpPr/>
          <p:nvPr/>
        </p:nvSpPr>
        <p:spPr>
          <a:xfrm>
            <a:off x="2523744" y="1097280"/>
            <a:ext cx="658368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7" name="Text 15"/>
          <p:cNvSpPr/>
          <p:nvPr/>
        </p:nvSpPr>
        <p:spPr>
          <a:xfrm>
            <a:off x="2523744" y="10972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KERAS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236976" y="11155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MODEL 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23744" y="1444752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CNN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23744" y="1901952"/>
            <a:ext cx="1847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Built from scratch. 4 conv blocks (32→256 filters) with BatchNorm + Dropout.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23744" y="2697480"/>
            <a:ext cx="18470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A1628"/>
                </a:solidFill>
              </a:rPr>
              <a:t>GlobalAvgPool2D head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A1628"/>
                </a:solidFill>
              </a:rPr>
              <a:t>L2 regularisation (1e-4)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A1628"/>
                </a:solidFill>
              </a:rPr>
              <a:t>Adam LR=0.001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A1628"/>
                </a:solidFill>
              </a:rPr>
              <a:t>Dropout 0.25–0.5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26864" y="960120"/>
            <a:ext cx="1993392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23" name="Shape 21"/>
          <p:cNvSpPr/>
          <p:nvPr/>
        </p:nvSpPr>
        <p:spPr>
          <a:xfrm>
            <a:off x="4626864" y="960120"/>
            <a:ext cx="1993392" cy="91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4" name="Shape 22"/>
          <p:cNvSpPr/>
          <p:nvPr/>
        </p:nvSpPr>
        <p:spPr>
          <a:xfrm>
            <a:off x="4700016" y="1097280"/>
            <a:ext cx="658368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5" name="Text 23"/>
          <p:cNvSpPr/>
          <p:nvPr/>
        </p:nvSpPr>
        <p:spPr>
          <a:xfrm>
            <a:off x="4700016" y="10972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YOLO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413248" y="11155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MODEL 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00016" y="1444752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YOLOv8n-cls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00016" y="1901952"/>
            <a:ext cx="1847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Ultralytics classification variant. Fast to train. Good comparison baseline.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0016" y="2697480"/>
            <a:ext cx="18470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A1628"/>
                </a:solidFill>
              </a:rPr>
              <a:t>yolov8n-cls architecture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A1628"/>
                </a:solidFill>
              </a:rPr>
              <a:t>epochs=20, imgsz=224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A1628"/>
                </a:solidFill>
              </a:rPr>
              <a:t>Default hyperparameters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A1628"/>
                </a:solidFill>
              </a:rPr>
              <a:t>~15 min training time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03136" y="960120"/>
            <a:ext cx="1993392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31" name="Shape 29"/>
          <p:cNvSpPr/>
          <p:nvPr/>
        </p:nvSpPr>
        <p:spPr>
          <a:xfrm>
            <a:off x="6803136" y="960120"/>
            <a:ext cx="1993392" cy="91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2" name="Shape 30"/>
          <p:cNvSpPr/>
          <p:nvPr/>
        </p:nvSpPr>
        <p:spPr>
          <a:xfrm>
            <a:off x="6876288" y="1097280"/>
            <a:ext cx="658368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3" name="Text 31"/>
          <p:cNvSpPr/>
          <p:nvPr/>
        </p:nvSpPr>
        <p:spPr>
          <a:xfrm>
            <a:off x="6876288" y="10972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TRANSFER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589520" y="11155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MODEL 3 ⭐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876288" y="1444752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EfficientNetB0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76288" y="1901952"/>
            <a:ext cx="1847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ImageNet pretrained. Two-phase fine-tuning. Best performance overall.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76288" y="2697480"/>
            <a:ext cx="18470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A1628"/>
                </a:solidFill>
              </a:rPr>
              <a:t>Phase 1: frozen base, LR=1e-3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A1628"/>
                </a:solidFill>
              </a:rPr>
              <a:t>Phase 2: top-50 layers, LR=1e-5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A1628"/>
                </a:solidFill>
              </a:rPr>
              <a:t>Class-weighted training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A1628"/>
                </a:solidFill>
              </a:rPr>
              <a:t>Best model — ~88% accuracy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5" name="Text 3"/>
          <p:cNvSpPr/>
          <p:nvPr/>
        </p:nvSpPr>
        <p:spPr>
          <a:xfrm>
            <a:off x="411480" y="7430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major problems encountered and how each was resolved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965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1965960" cy="347472"/>
          </a:xfrm>
          <a:prstGeom prst="rect">
            <a:avLst/>
          </a:prstGeom>
          <a:solidFill>
            <a:srgbClr val="EF4444">
              <a:alpha val="90000"/>
            </a:srgbClr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8" name="Text 6"/>
          <p:cNvSpPr/>
          <p:nvPr/>
        </p:nvSpPr>
        <p:spPr>
          <a:xfrm>
            <a:off x="393192" y="104241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⚠  Class Imbalance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408176"/>
            <a:ext cx="18196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Pterygium: 102 images vs 3,444 (Diabetic Retinopathy). Model predicted one class for every input. Confidence stuck at ~20%.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286000" y="16916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70048" y="1005840"/>
            <a:ext cx="1965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2" name="Shape 10"/>
          <p:cNvSpPr/>
          <p:nvPr/>
        </p:nvSpPr>
        <p:spPr>
          <a:xfrm>
            <a:off x="2670048" y="1005840"/>
            <a:ext cx="1965960" cy="347472"/>
          </a:xfrm>
          <a:prstGeom prst="rect">
            <a:avLst/>
          </a:prstGeom>
          <a:solidFill>
            <a:srgbClr val="10B981">
              <a:alpha val="90000"/>
            </a:srgbClr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3" name="Text 11"/>
          <p:cNvSpPr/>
          <p:nvPr/>
        </p:nvSpPr>
        <p:spPr>
          <a:xfrm>
            <a:off x="2743200" y="104241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⚖  Solution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1408176"/>
            <a:ext cx="18196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Oversample all classes to 2,500 images using augmentation. Apply class_weight='balanced' during training.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1965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1965960" cy="347472"/>
          </a:xfrm>
          <a:prstGeom prst="rect">
            <a:avLst/>
          </a:prstGeom>
          <a:solidFill>
            <a:srgbClr val="EF4444">
              <a:alpha val="90000"/>
            </a:srgbClr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7" name="Text 15"/>
          <p:cNvSpPr/>
          <p:nvPr/>
        </p:nvSpPr>
        <p:spPr>
          <a:xfrm>
            <a:off x="4828032" y="104241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🔄  Model Not Learning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28032" y="1408176"/>
            <a:ext cx="18196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Validation accuracy stayed near 10% (random chance). EarlyStopping fired after 3 epochs. Loss not decreasing.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720840" y="16916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104888" y="1005840"/>
            <a:ext cx="1965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21" name="Shape 19"/>
          <p:cNvSpPr/>
          <p:nvPr/>
        </p:nvSpPr>
        <p:spPr>
          <a:xfrm>
            <a:off x="7104888" y="1005840"/>
            <a:ext cx="1965960" cy="347472"/>
          </a:xfrm>
          <a:prstGeom prst="rect">
            <a:avLst/>
          </a:prstGeom>
          <a:solidFill>
            <a:srgbClr val="10B981">
              <a:alpha val="90000"/>
            </a:srgbClr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2" name="Text 20"/>
          <p:cNvSpPr/>
          <p:nvPr/>
        </p:nvSpPr>
        <p:spPr>
          <a:xfrm>
            <a:off x="7178040" y="104241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🚀  Solution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78040" y="1408176"/>
            <a:ext cx="18196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Two-phase training: Phase 1 freeze base (LR=1e-3), Phase 2 unfreeze top 50 layers (LR=1e-5). Patience increased to 10.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3063240"/>
            <a:ext cx="1965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25" name="Shape 23"/>
          <p:cNvSpPr/>
          <p:nvPr/>
        </p:nvSpPr>
        <p:spPr>
          <a:xfrm>
            <a:off x="320040" y="3063240"/>
            <a:ext cx="1965960" cy="347472"/>
          </a:xfrm>
          <a:prstGeom prst="rect">
            <a:avLst/>
          </a:prstGeom>
          <a:solidFill>
            <a:srgbClr val="EF4444">
              <a:alpha val="90000"/>
            </a:srgbClr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6" name="Text 24"/>
          <p:cNvSpPr/>
          <p:nvPr/>
        </p:nvSpPr>
        <p:spPr>
          <a:xfrm>
            <a:off x="393192" y="309981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📁  Dataset Path Errors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3192" y="3465576"/>
            <a:ext cx="18196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FileNotFoundError and BadZipFile errors due to wrong path, spaces in folder name, and corrupted zip file.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286000" y="37490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670048" y="3063240"/>
            <a:ext cx="1965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30" name="Shape 28"/>
          <p:cNvSpPr/>
          <p:nvPr/>
        </p:nvSpPr>
        <p:spPr>
          <a:xfrm>
            <a:off x="2670048" y="3063240"/>
            <a:ext cx="1965960" cy="347472"/>
          </a:xfrm>
          <a:prstGeom prst="rect">
            <a:avLst/>
          </a:prstGeom>
          <a:solidFill>
            <a:srgbClr val="10B981">
              <a:alpha val="90000"/>
            </a:srgbClr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1" name="Text 29"/>
          <p:cNvSpPr/>
          <p:nvPr/>
        </p:nvSpPr>
        <p:spPr>
          <a:xfrm>
            <a:off x="2743200" y="309981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 Solution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0" y="3465576"/>
            <a:ext cx="18196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Navigated Drive using os.listdir() at each level. Found correct path: data-2/Augmented_Dataset.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3063240"/>
            <a:ext cx="1965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34" name="Shape 32"/>
          <p:cNvSpPr/>
          <p:nvPr/>
        </p:nvSpPr>
        <p:spPr>
          <a:xfrm>
            <a:off x="4754880" y="3063240"/>
            <a:ext cx="1965960" cy="347472"/>
          </a:xfrm>
          <a:prstGeom prst="rect">
            <a:avLst/>
          </a:prstGeom>
          <a:solidFill>
            <a:srgbClr val="EF4444">
              <a:alpha val="90000"/>
            </a:srgbClr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5" name="Text 33"/>
          <p:cNvSpPr/>
          <p:nvPr/>
        </p:nvSpPr>
        <p:spPr>
          <a:xfrm>
            <a:off x="4828032" y="309981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📉  Overfitting (CNN)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28032" y="3465576"/>
            <a:ext cx="18196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Custom CNN train accuracy ~95% but val accuracy ~62%. Large generalisation gap. Model memorising training set.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720840" y="37490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104888" y="3063240"/>
            <a:ext cx="1965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39" name="Shape 37"/>
          <p:cNvSpPr/>
          <p:nvPr/>
        </p:nvSpPr>
        <p:spPr>
          <a:xfrm>
            <a:off x="7104888" y="3063240"/>
            <a:ext cx="1965960" cy="347472"/>
          </a:xfrm>
          <a:prstGeom prst="rect">
            <a:avLst/>
          </a:prstGeom>
          <a:solidFill>
            <a:srgbClr val="10B981">
              <a:alpha val="90000"/>
            </a:srgbClr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40" name="Text 38"/>
          <p:cNvSpPr/>
          <p:nvPr/>
        </p:nvSpPr>
        <p:spPr>
          <a:xfrm>
            <a:off x="7178040" y="309981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🛡  Solution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78040" y="3465576"/>
            <a:ext cx="18196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L2 regularisation + BatchNorm + Dropout 0.25–0.5. Rich live augmentation pipeline during training.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Model Comparison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evaluated on balanced validation set (5,000 images)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312090"/>
              </p:ext>
            </p:extLst>
          </p:nvPr>
        </p:nvGraphicFramePr>
        <p:xfrm>
          <a:off x="411480" y="1100566"/>
          <a:ext cx="8321040" cy="19202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AUC-ROC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CV (k=5)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Baseline (Dummy)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21.2%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0.04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0.10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0.05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Custom CNN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~72%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~0.71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~0.72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~0.71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~0.94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YOLOv8n-cls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~78%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~0.77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~0.78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~0.77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~0.96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EfficientNetB0 ⭐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~88%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~0.87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~0.88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~0.88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~0.98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86.7%±0.7%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Chart 0"/>
          <p:cNvGraphicFramePr/>
          <p:nvPr/>
        </p:nvGraphicFramePr>
        <p:xfrm>
          <a:off x="411480" y="3063240"/>
          <a:ext cx="832104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/>
          <p:nvPr/>
        </p:nvSpPr>
        <p:spPr>
          <a:xfrm>
            <a:off x="411480" y="495604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0D9488"/>
                </a:solidFill>
              </a:rPr>
              <a:t>5-Fold CV Mean Accuracy: 86.7% ± 0.7%  |  Low std confirms model is not overfitting to any single data split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" name="Text 1"/>
          <p:cNvSpPr/>
          <p:nvPr/>
        </p:nvSpPr>
        <p:spPr>
          <a:xfrm>
            <a:off x="356616" y="42434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YOLOv8 vs EfficientNetB0 — Deep Comparison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554602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ar-OM"/>
          </a:p>
        </p:txBody>
      </p:sp>
      <p:sp>
        <p:nvSpPr>
          <p:cNvPr id="5" name="Text 3"/>
          <p:cNvSpPr/>
          <p:nvPr/>
        </p:nvSpPr>
        <p:spPr>
          <a:xfrm>
            <a:off x="411480" y="66083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EfficientNetB0 outperforms YOLOv8 on this specific task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2724912" cy="3657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7" name="Text 5"/>
          <p:cNvSpPr/>
          <p:nvPr/>
        </p:nvSpPr>
        <p:spPr>
          <a:xfrm>
            <a:off x="502920" y="103327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Criteria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27832" y="987552"/>
            <a:ext cx="2724912" cy="3657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9" name="Text 7"/>
          <p:cNvSpPr/>
          <p:nvPr/>
        </p:nvSpPr>
        <p:spPr>
          <a:xfrm>
            <a:off x="3319272" y="103327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YOLOv8n-cls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44184" y="987552"/>
            <a:ext cx="2724912" cy="3657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1" name="Text 9"/>
          <p:cNvSpPr/>
          <p:nvPr/>
        </p:nvSpPr>
        <p:spPr>
          <a:xfrm>
            <a:off x="6135624" y="103327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EfficientNetB0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1389888"/>
            <a:ext cx="272491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3" name="Text 11"/>
          <p:cNvSpPr/>
          <p:nvPr/>
        </p:nvSpPr>
        <p:spPr>
          <a:xfrm>
            <a:off x="502920" y="143560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Primary design goal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27832" y="1389888"/>
            <a:ext cx="272491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5" name="Text 13"/>
          <p:cNvSpPr/>
          <p:nvPr/>
        </p:nvSpPr>
        <p:spPr>
          <a:xfrm>
            <a:off x="3319272" y="143560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Object detection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44184" y="1389888"/>
            <a:ext cx="272491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7" name="Text 15"/>
          <p:cNvSpPr/>
          <p:nvPr/>
        </p:nvSpPr>
        <p:spPr>
          <a:xfrm>
            <a:off x="6135624" y="143560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Image classification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1792224"/>
            <a:ext cx="272491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9" name="Text 17"/>
          <p:cNvSpPr/>
          <p:nvPr/>
        </p:nvSpPr>
        <p:spPr>
          <a:xfrm>
            <a:off x="502920" y="183794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Pretrained 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27832" y="1792224"/>
            <a:ext cx="272491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1" name="Text 19"/>
          <p:cNvSpPr/>
          <p:nvPr/>
        </p:nvSpPr>
        <p:spPr>
          <a:xfrm>
            <a:off x="3319272" y="183794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COCO + ImageNet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44184" y="1792224"/>
            <a:ext cx="272491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3" name="Text 21"/>
          <p:cNvSpPr/>
          <p:nvPr/>
        </p:nvSpPr>
        <p:spPr>
          <a:xfrm>
            <a:off x="6135624" y="183794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ImageNet (1.2M images)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2194560"/>
            <a:ext cx="272491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5" name="Text 23"/>
          <p:cNvSpPr/>
          <p:nvPr/>
        </p:nvSpPr>
        <p:spPr>
          <a:xfrm>
            <a:off x="502920" y="224028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Training time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27832" y="2194560"/>
            <a:ext cx="272491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7" name="Text 25"/>
          <p:cNvSpPr/>
          <p:nvPr/>
        </p:nvSpPr>
        <p:spPr>
          <a:xfrm>
            <a:off x="3319272" y="224028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~15 minutes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44184" y="2194560"/>
            <a:ext cx="272491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9" name="Text 27"/>
          <p:cNvSpPr/>
          <p:nvPr/>
        </p:nvSpPr>
        <p:spPr>
          <a:xfrm>
            <a:off x="6135624" y="224028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~45 minutes (both phases)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2596896"/>
            <a:ext cx="272491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1" name="Text 29"/>
          <p:cNvSpPr/>
          <p:nvPr/>
        </p:nvSpPr>
        <p:spPr>
          <a:xfrm>
            <a:off x="502920" y="264261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Accuracy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27832" y="2596896"/>
            <a:ext cx="272491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3" name="Text 31"/>
          <p:cNvSpPr/>
          <p:nvPr/>
        </p:nvSpPr>
        <p:spPr>
          <a:xfrm>
            <a:off x="3319272" y="264261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~78%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44184" y="2596896"/>
            <a:ext cx="2724912" cy="365760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5" name="Text 33"/>
          <p:cNvSpPr/>
          <p:nvPr/>
        </p:nvSpPr>
        <p:spPr>
          <a:xfrm>
            <a:off x="6135624" y="264261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~88%  ⭐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2999232"/>
            <a:ext cx="272491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7" name="Text 35"/>
          <p:cNvSpPr/>
          <p:nvPr/>
        </p:nvSpPr>
        <p:spPr>
          <a:xfrm>
            <a:off x="502920" y="304495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Fine-tuning control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27832" y="2999232"/>
            <a:ext cx="272491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9" name="Text 37"/>
          <p:cNvSpPr/>
          <p:nvPr/>
        </p:nvSpPr>
        <p:spPr>
          <a:xfrm>
            <a:off x="3319272" y="304495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Limited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44184" y="2999232"/>
            <a:ext cx="272491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41" name="Text 39"/>
          <p:cNvSpPr/>
          <p:nvPr/>
        </p:nvSpPr>
        <p:spPr>
          <a:xfrm>
            <a:off x="6135624" y="304495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Layer-by-layer control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1480" y="3401568"/>
            <a:ext cx="272491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43" name="Text 41"/>
          <p:cNvSpPr/>
          <p:nvPr/>
        </p:nvSpPr>
        <p:spPr>
          <a:xfrm>
            <a:off x="502920" y="344728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Medical imaging fit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27832" y="3401568"/>
            <a:ext cx="272491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45" name="Text 43"/>
          <p:cNvSpPr/>
          <p:nvPr/>
        </p:nvSpPr>
        <p:spPr>
          <a:xfrm>
            <a:off x="3319272" y="344728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Good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44184" y="3401568"/>
            <a:ext cx="272491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47" name="Text 45"/>
          <p:cNvSpPr/>
          <p:nvPr/>
        </p:nvSpPr>
        <p:spPr>
          <a:xfrm>
            <a:off x="6135624" y="344728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Excellent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1480" y="3803904"/>
            <a:ext cx="272491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49" name="Text 47"/>
          <p:cNvSpPr/>
          <p:nvPr/>
        </p:nvSpPr>
        <p:spPr>
          <a:xfrm>
            <a:off x="502920" y="384962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Grad-CAM support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27832" y="3803904"/>
            <a:ext cx="272491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51" name="Text 49"/>
          <p:cNvSpPr/>
          <p:nvPr/>
        </p:nvSpPr>
        <p:spPr>
          <a:xfrm>
            <a:off x="3319272" y="384962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Not native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044184" y="3803904"/>
            <a:ext cx="272491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53" name="Text 51"/>
          <p:cNvSpPr/>
          <p:nvPr/>
        </p:nvSpPr>
        <p:spPr>
          <a:xfrm>
            <a:off x="6135624" y="384962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✅ Full support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11480" y="4206240"/>
            <a:ext cx="272491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55" name="Text 53"/>
          <p:cNvSpPr/>
          <p:nvPr/>
        </p:nvSpPr>
        <p:spPr>
          <a:xfrm>
            <a:off x="502920" y="425196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Model size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27832" y="4206240"/>
            <a:ext cx="272491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57" name="Text 55"/>
          <p:cNvSpPr/>
          <p:nvPr/>
        </p:nvSpPr>
        <p:spPr>
          <a:xfrm>
            <a:off x="3319272" y="425196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~6 MB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044184" y="4206240"/>
            <a:ext cx="272491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59" name="Text 57"/>
          <p:cNvSpPr/>
          <p:nvPr/>
        </p:nvSpPr>
        <p:spPr>
          <a:xfrm>
            <a:off x="6135624" y="425196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~29 MB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11480" y="4608576"/>
            <a:ext cx="272491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61" name="Text 59"/>
          <p:cNvSpPr/>
          <p:nvPr/>
        </p:nvSpPr>
        <p:spPr>
          <a:xfrm>
            <a:off x="502920" y="465429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Best use case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227832" y="4608576"/>
            <a:ext cx="272491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63" name="Text 61"/>
          <p:cNvSpPr/>
          <p:nvPr/>
        </p:nvSpPr>
        <p:spPr>
          <a:xfrm>
            <a:off x="3319272" y="465429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Speed-critical screening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044184" y="4608576"/>
            <a:ext cx="272491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65" name="Text 63"/>
          <p:cNvSpPr/>
          <p:nvPr/>
        </p:nvSpPr>
        <p:spPr>
          <a:xfrm>
            <a:off x="6135624" y="465429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High-accuracy diagnosis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Explainability — Grad-CAM (XAI +5 pts)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explanations showing which retinal regions the model attends to [7]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9875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What is Grad-CAM?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Gradient-weighted Class Activation Mapping generates visual heatmaps by computing the gradient of the predicted class score with respect to the last convolutional feature map [7]. Regions highlighted in red/orange contributed most to the decision.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4505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Why it matters clinically: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852928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</a:rPr>
              <a:t>Doctors can verify the model attends to the right region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</a:rPr>
              <a:t>Highlights optic disc for Glaucoma, macula for DME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</a:rPr>
              <a:t>Detects spurious correlations in training data early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</a:rPr>
              <a:t>Required for regulatory approval of AI medical tools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987552"/>
            <a:ext cx="4160520" cy="397764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1" name="Text 9"/>
          <p:cNvSpPr/>
          <p:nvPr/>
        </p:nvSpPr>
        <p:spPr>
          <a:xfrm>
            <a:off x="4663440" y="104241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</a:rPr>
              <a:t>Grad-CAM Heatmap Pipeline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508760"/>
            <a:ext cx="1170432" cy="1170432"/>
          </a:xfrm>
          <a:prstGeom prst="rect">
            <a:avLst/>
          </a:prstGeom>
          <a:solidFill>
            <a:srgbClr val="0A2A4A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3" name="Shape 11"/>
          <p:cNvSpPr/>
          <p:nvPr/>
        </p:nvSpPr>
        <p:spPr>
          <a:xfrm>
            <a:off x="5029200" y="1691640"/>
            <a:ext cx="621792" cy="621792"/>
          </a:xfrm>
          <a:prstGeom prst="ellipse">
            <a:avLst/>
          </a:prstGeom>
          <a:solidFill>
            <a:srgbClr val="14B8A6">
              <a:alpha val="45000"/>
            </a:srgbClr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4" name="Text 12"/>
          <p:cNvSpPr/>
          <p:nvPr/>
        </p:nvSpPr>
        <p:spPr>
          <a:xfrm>
            <a:off x="4754880" y="27432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Original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Retinal Image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25312" y="196596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B8A6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53328" y="1508760"/>
            <a:ext cx="1170432" cy="117043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7" name="Shape 15"/>
          <p:cNvSpPr/>
          <p:nvPr/>
        </p:nvSpPr>
        <p:spPr>
          <a:xfrm>
            <a:off x="6327648" y="1691640"/>
            <a:ext cx="621792" cy="621792"/>
          </a:xfrm>
          <a:prstGeom prst="ellipse">
            <a:avLst/>
          </a:prstGeom>
          <a:solidFill>
            <a:srgbClr val="14B8A6">
              <a:alpha val="45000"/>
            </a:srgbClr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8" name="Text 16"/>
          <p:cNvSpPr/>
          <p:nvPr/>
        </p:nvSpPr>
        <p:spPr>
          <a:xfrm>
            <a:off x="6053328" y="27432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Grad-CAM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Heatmap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223760" y="196596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B8A6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51776" y="1508760"/>
            <a:ext cx="1170432" cy="1170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1" name="Shape 19"/>
          <p:cNvSpPr/>
          <p:nvPr/>
        </p:nvSpPr>
        <p:spPr>
          <a:xfrm>
            <a:off x="7626096" y="1691640"/>
            <a:ext cx="621792" cy="621792"/>
          </a:xfrm>
          <a:prstGeom prst="ellipse">
            <a:avLst/>
          </a:prstGeom>
          <a:solidFill>
            <a:srgbClr val="14B8A6">
              <a:alpha val="45000"/>
            </a:srgbClr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2" name="Text 20"/>
          <p:cNvSpPr/>
          <p:nvPr/>
        </p:nvSpPr>
        <p:spPr>
          <a:xfrm>
            <a:off x="7351776" y="27432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Overlay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(Final Output)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54880" y="3337560"/>
            <a:ext cx="338328" cy="256032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4" name="Shape 22"/>
          <p:cNvSpPr/>
          <p:nvPr/>
        </p:nvSpPr>
        <p:spPr>
          <a:xfrm>
            <a:off x="5102352" y="3337560"/>
            <a:ext cx="338328" cy="25603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5" name="Shape 23"/>
          <p:cNvSpPr/>
          <p:nvPr/>
        </p:nvSpPr>
        <p:spPr>
          <a:xfrm>
            <a:off x="5449824" y="3337560"/>
            <a:ext cx="338328" cy="2560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6" name="Shape 24"/>
          <p:cNvSpPr/>
          <p:nvPr/>
        </p:nvSpPr>
        <p:spPr>
          <a:xfrm>
            <a:off x="5797296" y="3337560"/>
            <a:ext cx="338328" cy="2560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7" name="Shape 25"/>
          <p:cNvSpPr/>
          <p:nvPr/>
        </p:nvSpPr>
        <p:spPr>
          <a:xfrm>
            <a:off x="6144768" y="3337560"/>
            <a:ext cx="338328" cy="256032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8" name="Shape 26"/>
          <p:cNvSpPr/>
          <p:nvPr/>
        </p:nvSpPr>
        <p:spPr>
          <a:xfrm>
            <a:off x="6492240" y="3337560"/>
            <a:ext cx="338328" cy="256032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9" name="Shape 27"/>
          <p:cNvSpPr/>
          <p:nvPr/>
        </p:nvSpPr>
        <p:spPr>
          <a:xfrm>
            <a:off x="6839712" y="3337560"/>
            <a:ext cx="338328" cy="256032"/>
          </a:xfrm>
          <a:prstGeom prst="rect">
            <a:avLst/>
          </a:prstGeom>
          <a:solidFill>
            <a:srgbClr val="FCA5A5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0" name="Shape 28"/>
          <p:cNvSpPr/>
          <p:nvPr/>
        </p:nvSpPr>
        <p:spPr>
          <a:xfrm>
            <a:off x="7187184" y="3337560"/>
            <a:ext cx="338328" cy="256032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1" name="Shape 29"/>
          <p:cNvSpPr/>
          <p:nvPr/>
        </p:nvSpPr>
        <p:spPr>
          <a:xfrm>
            <a:off x="7534656" y="3337560"/>
            <a:ext cx="338328" cy="25603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2" name="Shape 30"/>
          <p:cNvSpPr/>
          <p:nvPr/>
        </p:nvSpPr>
        <p:spPr>
          <a:xfrm>
            <a:off x="7882128" y="3337560"/>
            <a:ext cx="338328" cy="25603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3" name="Text 31"/>
          <p:cNvSpPr/>
          <p:nvPr/>
        </p:nvSpPr>
        <p:spPr>
          <a:xfrm>
            <a:off x="4663440" y="3611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</a:rPr>
              <a:t>Low attention</a:t>
            </a:r>
          </a:p>
        </p:txBody>
      </p:sp>
      <p:sp>
        <p:nvSpPr>
          <p:cNvPr id="34" name="Text 32"/>
          <p:cNvSpPr/>
          <p:nvPr/>
        </p:nvSpPr>
        <p:spPr>
          <a:xfrm>
            <a:off x="7241229" y="36118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chemeClr val="bg1"/>
                </a:solidFill>
              </a:rPr>
              <a:t>High attention</a:t>
            </a:r>
          </a:p>
        </p:txBody>
      </p:sp>
      <p:sp>
        <p:nvSpPr>
          <p:cNvPr id="35" name="Text 33"/>
          <p:cNvSpPr/>
          <p:nvPr/>
        </p:nvSpPr>
        <p:spPr>
          <a:xfrm>
            <a:off x="4663440" y="393192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2E8F0"/>
                </a:solidFill>
              </a:rPr>
              <a:t>In testing, the model correctly focused on: optic disc (Glaucoma), macular region (Macular Scar, Disc Edema), vascular network (Diabetic Retinopathy).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1480" y="495604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Ref: [7] Selvaraju et al., Grad-CAM: Visual Explanations from Deep Networks, ICCV 2017.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708712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ar-OM"/>
          </a:p>
        </p:txBody>
      </p:sp>
      <p:sp>
        <p:nvSpPr>
          <p:cNvPr id="5" name="Text 3"/>
          <p:cNvSpPr/>
          <p:nvPr/>
        </p:nvSpPr>
        <p:spPr>
          <a:xfrm>
            <a:off x="411480" y="76357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used satisfy Section 5.1 requirements of the assessment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591056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1591056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8" name="Text 6"/>
          <p:cNvSpPr/>
          <p:nvPr/>
        </p:nvSpPr>
        <p:spPr>
          <a:xfrm>
            <a:off x="320040" y="113385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🐍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93192" y="164592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Python 3.10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" y="2029968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Primary language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(required: 3.9+)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29968" y="1005840"/>
            <a:ext cx="1591056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2" name="Shape 10"/>
          <p:cNvSpPr/>
          <p:nvPr/>
        </p:nvSpPr>
        <p:spPr>
          <a:xfrm>
            <a:off x="2029968" y="1005840"/>
            <a:ext cx="1591056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3" name="Text 11"/>
          <p:cNvSpPr/>
          <p:nvPr/>
        </p:nvSpPr>
        <p:spPr>
          <a:xfrm>
            <a:off x="2029968" y="113385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103120" y="164592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TensorFlow 2.x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2029968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Deep learning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framework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39896" y="1005840"/>
            <a:ext cx="1591056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17" name="Shape 15"/>
          <p:cNvSpPr/>
          <p:nvPr/>
        </p:nvSpPr>
        <p:spPr>
          <a:xfrm>
            <a:off x="3739896" y="1005840"/>
            <a:ext cx="1591056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8" name="Text 16"/>
          <p:cNvSpPr/>
          <p:nvPr/>
        </p:nvSpPr>
        <p:spPr>
          <a:xfrm>
            <a:off x="3739896" y="113385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813048" y="164592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scikit-learn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13048" y="2029968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Baseline model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CV + metrics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49824" y="1005840"/>
            <a:ext cx="1591056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22" name="Shape 20"/>
          <p:cNvSpPr/>
          <p:nvPr/>
        </p:nvSpPr>
        <p:spPr>
          <a:xfrm>
            <a:off x="5449824" y="1005840"/>
            <a:ext cx="1591056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3" name="Text 21"/>
          <p:cNvSpPr/>
          <p:nvPr/>
        </p:nvSpPr>
        <p:spPr>
          <a:xfrm>
            <a:off x="5449824" y="113385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🐼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522976" y="164592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pandas / NumPy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22976" y="2029968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Data handling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&amp; analysis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159752" y="1005840"/>
            <a:ext cx="1591056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27" name="Shape 25"/>
          <p:cNvSpPr/>
          <p:nvPr/>
        </p:nvSpPr>
        <p:spPr>
          <a:xfrm>
            <a:off x="7159752" y="1005840"/>
            <a:ext cx="1591056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28" name="Text 26"/>
          <p:cNvSpPr/>
          <p:nvPr/>
        </p:nvSpPr>
        <p:spPr>
          <a:xfrm>
            <a:off x="7159752" y="113385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232904" y="164592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Matplotlib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Seaborn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32904" y="2029968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5 EDA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visualisations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2880360"/>
            <a:ext cx="1591056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32" name="Shape 30"/>
          <p:cNvSpPr/>
          <p:nvPr/>
        </p:nvSpPr>
        <p:spPr>
          <a:xfrm>
            <a:off x="320040" y="2880360"/>
            <a:ext cx="1591056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3" name="Text 31"/>
          <p:cNvSpPr/>
          <p:nvPr/>
        </p:nvSpPr>
        <p:spPr>
          <a:xfrm>
            <a:off x="320040" y="300837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393192" y="35204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YOLOv8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93192" y="3904488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Ultralytics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classifier model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029968" y="2880360"/>
            <a:ext cx="1591056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37" name="Shape 35"/>
          <p:cNvSpPr/>
          <p:nvPr/>
        </p:nvSpPr>
        <p:spPr>
          <a:xfrm>
            <a:off x="2029968" y="2880360"/>
            <a:ext cx="1591056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8" name="Text 36"/>
          <p:cNvSpPr/>
          <p:nvPr/>
        </p:nvSpPr>
        <p:spPr>
          <a:xfrm>
            <a:off x="2029968" y="300837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2103120" y="35204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MLflow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103120" y="3904488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Experiment tracking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(BONUS ✅)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739896" y="2880360"/>
            <a:ext cx="1591056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42" name="Shape 40"/>
          <p:cNvSpPr/>
          <p:nvPr/>
        </p:nvSpPr>
        <p:spPr>
          <a:xfrm>
            <a:off x="3739896" y="2880360"/>
            <a:ext cx="1591056" cy="7315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43" name="Text 41"/>
          <p:cNvSpPr/>
          <p:nvPr/>
        </p:nvSpPr>
        <p:spPr>
          <a:xfrm>
            <a:off x="3739896" y="300837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🐙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3813048" y="35204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GitHub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813048" y="3904488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Version control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(required ✅)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449824" y="2880360"/>
            <a:ext cx="1591056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47" name="Shape 45"/>
          <p:cNvSpPr/>
          <p:nvPr/>
        </p:nvSpPr>
        <p:spPr>
          <a:xfrm>
            <a:off x="5449824" y="2880360"/>
            <a:ext cx="1591056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48" name="Text 46"/>
          <p:cNvSpPr/>
          <p:nvPr/>
        </p:nvSpPr>
        <p:spPr>
          <a:xfrm>
            <a:off x="5449824" y="300837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5522976" y="35204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Google Colab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22976" y="3904488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GPU training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T4 / A100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159752" y="2880360"/>
            <a:ext cx="1591056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OM"/>
          </a:p>
        </p:txBody>
      </p:sp>
      <p:sp>
        <p:nvSpPr>
          <p:cNvPr id="52" name="Shape 50"/>
          <p:cNvSpPr/>
          <p:nvPr/>
        </p:nvSpPr>
        <p:spPr>
          <a:xfrm>
            <a:off x="7159752" y="2880360"/>
            <a:ext cx="1591056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53" name="Text 51"/>
          <p:cNvSpPr/>
          <p:nvPr/>
        </p:nvSpPr>
        <p:spPr>
          <a:xfrm>
            <a:off x="7159752" y="300837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7232904" y="35204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Grad-CAM (XAI)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232904" y="3904488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Explainability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+5 bonus pts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0241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</a:rPr>
              <a:t>Key Findings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1444752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EfficientNetB0 achieved ~88% accuracy — best of all four models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Class imbalance (102 vs 3,444 images) was the root cause of model bias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Two-phase fine-tuning was critical — LR=1e-5 in Phase 2 prevented forgetting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k=5 cross-validation confirmed robustness (86.7% ± 0.7%)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Grad-CAM correctly highlights clinical retinal features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54880" y="10241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</a:rPr>
              <a:t>Future Work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109728" cy="2926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8" name="Text 6"/>
          <p:cNvSpPr/>
          <p:nvPr/>
        </p:nvSpPr>
        <p:spPr>
          <a:xfrm>
            <a:off x="4956048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REST API + mobile app for point-of-care screening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965960"/>
            <a:ext cx="109728" cy="2926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0" name="Text 8"/>
          <p:cNvSpPr/>
          <p:nvPr/>
        </p:nvSpPr>
        <p:spPr>
          <a:xfrm>
            <a:off x="4956048" y="19385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Train on larger multi-centre clinical datasets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2423160"/>
            <a:ext cx="109728" cy="2926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2" name="Text 10"/>
          <p:cNvSpPr/>
          <p:nvPr/>
        </p:nvSpPr>
        <p:spPr>
          <a:xfrm>
            <a:off x="4956048" y="23957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Explore Vision Transformers (ViT, Swin)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880360"/>
            <a:ext cx="109728" cy="2926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4" name="Text 12"/>
          <p:cNvSpPr/>
          <p:nvPr/>
        </p:nvSpPr>
        <p:spPr>
          <a:xfrm>
            <a:off x="4956048" y="28529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Federated learning for privacy-preserving training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3337560"/>
            <a:ext cx="109728" cy="2926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6" name="Text 14"/>
          <p:cNvSpPr/>
          <p:nvPr/>
        </p:nvSpPr>
        <p:spPr>
          <a:xfrm>
            <a:off x="4956048" y="3310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SHAP values as complementary XAI method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4133088"/>
            <a:ext cx="8321040" cy="36576"/>
          </a:xfrm>
          <a:prstGeom prst="rect">
            <a:avLst/>
          </a:prstGeom>
          <a:solidFill>
            <a:srgbClr val="0D9488">
              <a:alpha val="45000"/>
            </a:srgbClr>
          </a:solidFill>
          <a:ln/>
        </p:spPr>
        <p:txBody>
          <a:bodyPr/>
          <a:lstStyle/>
          <a:p>
            <a:endParaRPr lang="ar-OM"/>
          </a:p>
        </p:txBody>
      </p:sp>
      <p:sp>
        <p:nvSpPr>
          <p:cNvPr id="18" name="Text 16"/>
          <p:cNvSpPr/>
          <p:nvPr/>
        </p:nvSpPr>
        <p:spPr>
          <a:xfrm>
            <a:off x="457200" y="42519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~88%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Best Accuracy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856232" y="42519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56232" y="4709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Diseases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55264" y="42519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255264" y="4709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Balanced Images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54296" y="42519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k=5 CV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54296" y="4709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Validated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53328" y="42519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MLflow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053328" y="4709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452360" y="42519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 pts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452360" y="4709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Grad-CAM XAI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1480" y="491947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i="1" dirty="0" err="1">
                <a:solidFill>
                  <a:srgbClr val="64748B"/>
                </a:solidFill>
              </a:rPr>
              <a:t>github.com</a:t>
            </a:r>
            <a:r>
              <a:rPr lang="en-US" sz="900" i="1" dirty="0">
                <a:solidFill>
                  <a:srgbClr val="64748B"/>
                </a:solidFill>
              </a:rPr>
              <a:t>/Aboomar99/visioncare-ai  |  aiac@unizwa.edu.om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1444</Words>
  <Application>Microsoft Macintosh PowerPoint</Application>
  <PresentationFormat>عرض على الشاشة (16:9)</PresentationFormat>
  <Paragraphs>334</Paragraphs>
  <Slides>12</Slides>
  <Notes>12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VisionCare AI</dc:title>
  <dc:subject>PptxGenJS Presentation</dc:subject>
  <dc:creator>VisionCare AI — AIAC Assessment 2025</dc:creator>
  <cp:lastModifiedBy>Abdul Aziz Mohammed Al Shu'Eili</cp:lastModifiedBy>
  <cp:revision>2</cp:revision>
  <dcterms:created xsi:type="dcterms:W3CDTF">2026-05-11T19:56:11Z</dcterms:created>
  <dcterms:modified xsi:type="dcterms:W3CDTF">2026-05-12T07:01:24Z</dcterms:modified>
</cp:coreProperties>
</file>